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Vers une stratégie communale de l’intelligence artificielle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Motion au Conseil général de la Ville du Locle</a:t>
            </a:r>
          </a:p>
          <a:p>
            <a:r>
              <a:t>Conseiller général : William Buirette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général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L’IA est déjà utilisée dans de nombreuses administrations et entreprises.</a:t>
            </a:r>
          </a:p>
          <a:p>
            <a:pPr/>
            <a:r>
              <a:t>Les tâches administratives deviennent de plus en plus nombreuses et complexes.</a:t>
            </a:r>
          </a:p>
          <a:p>
            <a:pPr/>
            <a:r>
              <a:t>Risque actuel : usage individuel d’outils grand public, sans cadre ni contrôle.</a:t>
            </a:r>
          </a:p>
          <a:p>
            <a:pPr/>
            <a:r>
              <a:t>Opportunité : utiliser l’IA comme assistant pour améliorer le service et soulager le personnel.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 au Locle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 40 employé·e·s exerçant principalement des tâches administratives.</a:t>
            </a:r>
          </a:p>
          <a:p>
            <a:pPr/>
            <a:r>
              <a:t>Nombreuses tâches répétitives et chronophages : tri de mails, courriers, comptes rendus, recherches.</a:t>
            </a:r>
          </a:p>
          <a:p>
            <a:pPr/>
            <a:r>
              <a:t>Ressources limitées, exigences croissantes de la population.</a:t>
            </a:r>
          </a:p>
          <a:p>
            <a:pPr/>
            <a:r>
              <a:t>Besoin d’une vision d’ensemble plutôt que de petits essais isolés.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Moderniser l’administration en entrant clairement dans l’ère de l’IA.</a:t>
            </a:r>
          </a:p>
          <a:p>
            <a:pPr/>
            <a:r>
              <a:t>Libérer du temps pour les tâches à forte valeur ajoutée (accueil, dossiers complexes).</a:t>
            </a:r>
          </a:p>
          <a:p>
            <a:pPr/>
            <a:r>
              <a:t>Améliorer la qualité et la lisibilité des documents produits.</a:t>
            </a:r>
          </a:p>
          <a:p>
            <a:pPr/>
            <a:r>
              <a:t>Garantir un usage de l’IA sûr et conforme à la LPD (protection des données).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Mandat demandé au Conseil communal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Réaliser un état des lieux des usages actuels et potentiels de l’IA.</a:t>
            </a:r>
          </a:p>
          <a:p>
            <a:pPr/>
            <a:r>
              <a:t>Élaborer une stratégie IA communale sur 3–5 ans.</a:t>
            </a:r>
          </a:p>
          <a:p>
            <a:pPr/>
            <a:r>
              <a:t>Étudier la mise en place d’une infrastructure IA locale (type DGX Spark ou équivalent).</a:t>
            </a:r>
          </a:p>
          <a:p>
            <a:pPr/>
            <a:r>
              <a:t>Lancer un ou plusieurs projets pilotes concrets.</a:t>
            </a:r>
          </a:p>
          <a:p>
            <a:pPr/>
            <a:r>
              <a:t>Présenter, dans les 12 mois, un rapport détaillé (stratégie, options techniques, coûts, gouvernance).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Tâches ciblées par l’IA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 et priorisation des courriels entrants.</a:t>
            </a:r>
          </a:p>
          <a:p>
            <a:pPr/>
            <a:r>
              <a:t>Rédaction de courriers standardisés : attestations, confirmations, relances, accusés de réception.</a:t>
            </a:r>
          </a:p>
          <a:p>
            <a:pPr/>
            <a:r>
              <a:t>Adaptation de modèles de courriers à des cas concrets.</a:t>
            </a:r>
          </a:p>
          <a:p>
            <a:pPr/>
            <a:r>
              <a:t>Génération d’accusés de réception clairs et homogènes.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Tâches ciblées par l’IA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Synthèse de rapports techniques ou administratifs.</a:t>
            </a:r>
          </a:p>
          <a:p>
            <a:pPr/>
            <a:r>
              <a:t>Aide à la rédaction de procès-verbaux et comptes rendus à partir de notes ou de transcriptions.</a:t>
            </a:r>
          </a:p>
          <a:p>
            <a:pPr/>
            <a:r>
              <a:t>Création de fiches explicatives pour le public à partir de textes réglementaires complexes.</a:t>
            </a:r>
          </a:p>
          <a:p>
            <a:pPr/>
            <a:r>
              <a:t>Aide à la traduction et à la simplification de textes administratifs.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Gains attendus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Expériences publiques et privées : jusqu’à 1–2 heures gagnées par jour pour les postes fortement administratifs.</a:t>
            </a:r>
          </a:p>
          <a:p>
            <a:pPr/>
            <a:r>
              <a:t>Pour ~40 personnes : plusieurs équivalents plein temps réinvestissables dans le service à la population.</a:t>
            </a:r>
          </a:p>
          <a:p>
            <a:pPr/>
            <a:r>
              <a:t>Réduction des délais de traitement de certains dossiers.</a:t>
            </a:r>
          </a:p>
          <a:p>
            <a:pPr/>
            <a:r>
              <a:t>Amélioration de la qualité des documents : clarté, cohérence, correction linguistique.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une IA locale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 nombreux services d’IA fonctionnent dans le cloud à l’étranger.</a:t>
            </a:r>
          </a:p>
          <a:p>
            <a:pPr/>
            <a:r>
              <a:t>Problème : transfert de données personnelles à des prestataires externes.</a:t>
            </a:r>
          </a:p>
          <a:p>
            <a:pPr/>
            <a:r>
              <a:t>Solution à étudier : une infrastructure IA locale, hébergée par la Ville.</a:t>
            </a:r>
          </a:p>
          <a:p>
            <a:pPr/>
            <a:r>
              <a:t>Avantages : maîtrise des données, contrôle des accès, meilleure conformité LPD.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d’infrastructure : DGX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Station d’IA compacte, conçue spécifiquement pour les modèles d’IA avancés.</a:t>
            </a:r>
          </a:p>
          <a:p>
            <a:pPr/>
            <a:r>
              <a:t>Permet d’exécuter localement des assistants IA (courriers, PV, FAQ, recherche interne…).</a:t>
            </a:r>
          </a:p>
          <a:p>
            <a:pPr/>
            <a:r>
              <a:t>Intègre une pile logicielle IA prête à l’emploi, facilitant le déploiement de solutions internes.</a:t>
            </a:r>
          </a:p>
          <a:p>
            <a:pPr/>
            <a:r>
              <a:t>La motion demande d’étudier DGX Spark ou une solution équivalente, sans imposer un modèle précis.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Respect strict de la LPD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de la loi fédérale sur la protection des données (LPD) et du droit cantonal.</a:t>
            </a:r>
          </a:p>
          <a:p>
            <a:pPr/>
            <a:r>
              <a:t>Légalité : l’IA ne sert qu’à accomplir les tâches du mandat public.</a:t>
            </a:r>
          </a:p>
          <a:p>
            <a:pPr/>
            <a:r>
              <a:t>Proportionnalité : ne traiter que les données nécessaires, éviter le profilage inutile.</a:t>
            </a:r>
          </a:p>
          <a:p>
            <a:pPr/>
            <a:r>
              <a:t>Sécurité et transparence : mesures techniques renforcées et information des personnes concernées.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Gouvernance et cadre interne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Mise en place d’un comité de pilotage IA.</a:t>
            </a:r>
          </a:p>
          <a:p>
            <a:pPr/>
            <a:r>
              <a:t>Rôle central du/de la préposé·e à la protection des données.</a:t>
            </a:r>
          </a:p>
          <a:p>
            <a:pPr/>
            <a:r>
              <a:t>Élaboration d’une charte interne d’utilisation de l’IA pour le personnel.</a:t>
            </a:r>
          </a:p>
          <a:p>
            <a:pPr/>
            <a:r>
              <a:t>Formations à l’usage responsable des outils d’IA.</a:t>
            </a:r>
          </a:p>
          <a:p>
            <a:pPr/>
            <a:r>
              <a:t>Validation humaine systématique pour les décisions importantes et les documents sensibles.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Projets pilotes possibles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Rédaction assistée de courriers types et de réponses aux e-mails.</a:t>
            </a:r>
          </a:p>
          <a:p>
            <a:pPr/>
            <a:r>
              <a:t>Synthèse automatique de procès-verbaux de séances, avec relecture humaine.</a:t>
            </a:r>
          </a:p>
          <a:p>
            <a:pPr/>
            <a:r>
              <a:t>Tri intelligent des courriels (urgents, sensibles, simples, informatifs).</a:t>
            </a:r>
          </a:p>
          <a:p>
            <a:pPr/>
            <a:r>
              <a:t>Outil de recherche sémantique dans la documentation communale.</a:t>
            </a:r>
          </a:p>
          <a:p>
            <a:pPr/>
            <a:r>
              <a:t>Évaluation des gains de temps et de la satisfaction des employé·e·s.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Calendrier indicatif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0–6 mois : état des lieux, identification des tâches prioritaires, définition de la stratégie IA et des projets pilotes.</a:t>
            </a:r>
          </a:p>
          <a:p>
            <a:pPr/>
            <a:r>
              <a:t>6–12 mois : mise en place des projets pilotes et de l’infrastructure retenue, premiers retours d’expérience.</a:t>
            </a:r>
          </a:p>
          <a:p>
            <a:pPr/>
            <a:r>
              <a:t>À 12 mois : rapport au Conseil général avec stratégie définitive, résultats et proposition de généralisation.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clé pour la population et le personnel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L’IA est un outil, pas une fin en soi.</a:t>
            </a:r>
          </a:p>
          <a:p>
            <a:pPr/>
            <a:r>
              <a:t>Objectif : soulager les employé·e·s des tâches répétitives, pas les remplacer.</a:t>
            </a:r>
          </a:p>
          <a:p>
            <a:pPr/>
            <a:r>
              <a:t>Améliorer la qualité du service et la lisibilité de l’action communale.</a:t>
            </a:r>
          </a:p>
          <a:p>
            <a:pPr/>
            <a:r>
              <a:t>Mieux protéger les données en encadrant l’usage de l’IA plutôt qu’en le laissant se développer sans règle.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 pas subir l’IA, mais la piloter avec une stratégie claire.</a:t>
            </a:r>
          </a:p>
          <a:p>
            <a:pPr/>
            <a:r>
              <a:t>Donner au Conseil communal un mandat pour définir une vision IA communale.</a:t>
            </a:r>
          </a:p>
          <a:p>
            <a:pPr/>
            <a:r>
              <a:t>Étudier une infrastructure locale (DGX Spark ou équivalent) et garantir le respect de la LPD.</a:t>
            </a:r>
          </a:p>
          <a:p>
            <a:pPr/>
            <a:r>
              <a:t>Inviter le Conseil général à soutenir la motion pour préparer l’avenir de l’administration locloise.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